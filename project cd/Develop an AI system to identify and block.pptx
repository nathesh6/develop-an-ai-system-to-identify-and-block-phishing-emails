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73" r:id="rId15"/>
    <p:sldId id="269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56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266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31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75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66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96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86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37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47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10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423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6903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328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624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889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58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892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482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4D7172E-60C3-4F3E-B9A4-69B02D7F7DFD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1289041-0EC6-42E0-BCF8-5BCBC8A952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185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04F08-1D52-A8F1-7B1F-BCD13B60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356" y="1052509"/>
            <a:ext cx="12558712" cy="2214694"/>
          </a:xfrm>
        </p:spPr>
        <p:txBody>
          <a:bodyPr>
            <a:normAutofit fontScale="90000"/>
          </a:bodyPr>
          <a:lstStyle/>
          <a:p>
            <a:r>
              <a:rPr lang="en-US" sz="4400" b="1" cap="none" dirty="0">
                <a:solidFill>
                  <a:srgbClr val="000000"/>
                </a:solidFill>
                <a:effectLst/>
                <a:latin typeface="Modern No. 20" panose="02070704070505020303" pitchFamily="18" charset="0"/>
                <a:cs typeface="Times New Roman" panose="02020603050405020304" pitchFamily="18" charset="0"/>
              </a:rPr>
              <a:t>DEPARTMENT OF COMPUTER SCIENCE AND </a:t>
            </a:r>
            <a:br>
              <a:rPr lang="en-US" sz="4400" cap="none" dirty="0">
                <a:latin typeface="Modern No. 20" panose="02070704070505020303" pitchFamily="18" charset="0"/>
                <a:cs typeface="Times New Roman" panose="02020603050405020304" pitchFamily="18" charset="0"/>
              </a:rPr>
            </a:br>
            <a:r>
              <a:rPr lang="en-US" sz="4400" b="1" cap="none" dirty="0">
                <a:solidFill>
                  <a:srgbClr val="000000"/>
                </a:solidFill>
                <a:effectLst/>
                <a:latin typeface="Modern No. 20" panose="02070704070505020303" pitchFamily="18" charset="0"/>
                <a:cs typeface="Times New Roman" panose="02020603050405020304" pitchFamily="18" charset="0"/>
              </a:rPr>
              <a:t>ENGINEERING</a:t>
            </a:r>
            <a:br>
              <a:rPr lang="en-US" sz="3600" b="1" cap="none" dirty="0">
                <a:solidFill>
                  <a:srgbClr val="000000"/>
                </a:solidFill>
                <a:effectLst/>
                <a:latin typeface="Modern No. 20" panose="02070704070505020303" pitchFamily="18" charset="0"/>
                <a:cs typeface="Times New Roman" panose="02020603050405020304" pitchFamily="18" charset="0"/>
              </a:rPr>
            </a:br>
            <a:br>
              <a:rPr lang="en-US" sz="3600" b="1" cap="none" dirty="0">
                <a:solidFill>
                  <a:srgbClr val="000000"/>
                </a:solidFill>
                <a:effectLst/>
                <a:latin typeface="Modern No. 20" panose="02070704070505020303" pitchFamily="18" charset="0"/>
                <a:cs typeface="Times New Roman" panose="02020603050405020304" pitchFamily="18" charset="0"/>
              </a:rPr>
            </a:br>
            <a:r>
              <a:rPr lang="en-US" sz="3600" cap="none" dirty="0">
                <a:latin typeface="Modern No. 20" panose="02070704070505020303" pitchFamily="18" charset="0"/>
                <a:cs typeface="Times New Roman" panose="02020603050405020304" pitchFamily="18" charset="0"/>
              </a:rPr>
              <a:t>Develop an AI System to Identify </a:t>
            </a:r>
            <a:r>
              <a:rPr lang="en-US" cap="none" dirty="0">
                <a:latin typeface="Modern No. 20" panose="02070704070505020303" pitchFamily="18" charset="0"/>
                <a:cs typeface="Times New Roman" panose="02020603050405020304" pitchFamily="18" charset="0"/>
              </a:rPr>
              <a:t>a</a:t>
            </a:r>
            <a:r>
              <a:rPr lang="en-US" sz="3600" cap="none" dirty="0">
                <a:latin typeface="Modern No. 20" panose="02070704070505020303" pitchFamily="18" charset="0"/>
                <a:cs typeface="Times New Roman" panose="02020603050405020304" pitchFamily="18" charset="0"/>
              </a:rPr>
              <a:t>nd Block</a:t>
            </a:r>
            <a:br>
              <a:rPr lang="en-US" sz="3600" cap="none" dirty="0">
                <a:latin typeface="Modern No. 20" panose="02070704070505020303" pitchFamily="18" charset="0"/>
                <a:cs typeface="Times New Roman" panose="02020603050405020304" pitchFamily="18" charset="0"/>
              </a:rPr>
            </a:br>
            <a:r>
              <a:rPr lang="en-US" sz="3600" cap="none" dirty="0">
                <a:latin typeface="Modern No. 20" panose="02070704070505020303" pitchFamily="18" charset="0"/>
                <a:cs typeface="Times New Roman" panose="02020603050405020304" pitchFamily="18" charset="0"/>
              </a:rPr>
              <a:t> Phishing Emails</a:t>
            </a:r>
            <a:endParaRPr lang="en-IN" cap="none" dirty="0">
              <a:latin typeface="Modern No. 20" panose="020707040705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1AE19-D337-62DE-07C5-94971FD79EB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9974" y="3581529"/>
            <a:ext cx="5106026" cy="3424107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marL="0" indent="0">
              <a:buNone/>
            </a:pPr>
            <a:r>
              <a:rPr lang="en-IN" sz="2800" cap="none" dirty="0">
                <a:solidFill>
                  <a:schemeClr val="dk1"/>
                </a:solidFill>
                <a:latin typeface="Times New Roman" panose="02020603050405020304" pitchFamily="18" charset="0"/>
                <a:ea typeface="Anek Devanagari"/>
                <a:cs typeface="Times New Roman" panose="02020603050405020304" pitchFamily="18" charset="0"/>
                <a:sym typeface="Anek Devanagari"/>
              </a:rPr>
              <a:t>   Ms .V. Saranya .M.E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16D14-3968-5F0C-AFA3-2EAFAACF50E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57875" y="3424366"/>
            <a:ext cx="5719762" cy="3424107"/>
          </a:xfrm>
        </p:spPr>
        <p:txBody>
          <a:bodyPr/>
          <a:lstStyle/>
          <a:p>
            <a:r>
              <a:rPr lang="en-IN" sz="2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IN" sz="2400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Angeshkumar .P   -  71052202301</a:t>
            </a:r>
          </a:p>
          <a:p>
            <a:pPr marL="0" indent="0">
              <a:buNone/>
            </a:pPr>
            <a:r>
              <a:rPr lang="en-IN" sz="2400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Anisuthan .S         -  71052202007</a:t>
            </a:r>
          </a:p>
          <a:p>
            <a:pPr marL="0" indent="0">
              <a:buNone/>
            </a:pPr>
            <a:r>
              <a:rPr lang="en-IN" sz="2400" cap="non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Nathesh </a:t>
            </a:r>
            <a:r>
              <a:rPr lang="en-IN" sz="2400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.P.V         -  71052202303</a:t>
            </a:r>
          </a:p>
          <a:p>
            <a:pPr marL="0" indent="0">
              <a:buNone/>
            </a:pPr>
            <a:r>
              <a:rPr lang="en-IN" sz="2400" cap="non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Sanjayram .S        -  71052202308</a:t>
            </a:r>
          </a:p>
        </p:txBody>
      </p:sp>
    </p:spTree>
    <p:extLst>
      <p:ext uri="{BB962C8B-B14F-4D97-AF65-F5344CB8AC3E}">
        <p14:creationId xmlns:p14="http://schemas.microsoft.com/office/powerpoint/2010/main" val="145968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F321C-9BC9-EF51-CD53-3F45E767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3188" y="413809"/>
            <a:ext cx="8911687" cy="1280890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314C990-D600-E525-FE91-CAE719DFEE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700" y="1694699"/>
            <a:ext cx="10958513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phishing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most common and dangerous forms of cyberattacks.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Attackers trick users by sending fake emails that mimic trusted sources.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emails often contain malicious links, fake login pages, or infected attachments.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phishing emails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automate and improve security.</a:t>
            </a:r>
          </a:p>
        </p:txBody>
      </p:sp>
    </p:spTree>
    <p:extLst>
      <p:ext uri="{BB962C8B-B14F-4D97-AF65-F5344CB8AC3E}">
        <p14:creationId xmlns:p14="http://schemas.microsoft.com/office/powerpoint/2010/main" val="229129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22C7-1AD2-A007-599B-7D8D2EFE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62" y="606954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2312B9-2AFA-BB26-1435-AE04F4ED12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9000" y="1711855"/>
            <a:ext cx="8911687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Phishing emails pose a major cybersecurity risk.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filters often fail against sophisticated attacks.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reliable, automated system to identify phishing emails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volume and complexity of phishing emails demand intelligent, scalable solutions</a:t>
            </a:r>
          </a:p>
        </p:txBody>
      </p:sp>
    </p:spTree>
    <p:extLst>
      <p:ext uri="{BB962C8B-B14F-4D97-AF65-F5344CB8AC3E}">
        <p14:creationId xmlns:p14="http://schemas.microsoft.com/office/powerpoint/2010/main" val="190643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9643-864B-0F9D-56F1-E38AB0FB3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85925" y="320347"/>
            <a:ext cx="8911687" cy="128089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78D5DD2-5D94-992E-D577-44451F2D9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751" y="1364877"/>
            <a:ext cx="10520362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phishing emails using an intelligent machine learning model.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 with XG-Boost and TF-IDF feature extraction.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real-time, web-based system to classify emails as phishing or legitimate.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 false positives and false negatives to ensure reliable results.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user-friendly interface for non-technical users to easily test email safety.</a:t>
            </a:r>
          </a:p>
        </p:txBody>
      </p:sp>
    </p:spTree>
    <p:extLst>
      <p:ext uri="{BB962C8B-B14F-4D97-AF65-F5344CB8AC3E}">
        <p14:creationId xmlns:p14="http://schemas.microsoft.com/office/powerpoint/2010/main" val="3847998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ED72A-0E68-3A9D-629D-A6681D829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1725" y="652685"/>
            <a:ext cx="8911687" cy="128089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6005EC-1D30-673B-8774-C2C1DAE65C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5338" y="1666124"/>
            <a:ext cx="9505950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Spam Filters And Keyword Detection Are Commonly Used.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Are Limited In Flexibility And Fail Against New Or Obfuscated Phishing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Negatives And Undetected Threats Remain A Major Concern. Give More For This Slide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</a:t>
            </a:r>
            <a:r>
              <a:rPr 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Is Slow And Low </a:t>
            </a:r>
            <a:r>
              <a:rPr lang="en-IN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86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54E7-ED7F-8EB0-1C13-AEA1B0E1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90750" y="432640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D173C4-6B69-D241-1A1C-307BEF2108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5324" y="1633008"/>
            <a:ext cx="9691689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Naïve Bayes: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 and fast probabilistic classifier.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Effective for binary email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SVM: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Finds the best boundary between phishing and safe emails.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Random Forest: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multiple trees for better accuracy.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XG-Boost: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Powerful and fast gradient boosting method.</a:t>
            </a:r>
          </a:p>
        </p:txBody>
      </p:sp>
    </p:spTree>
    <p:extLst>
      <p:ext uri="{BB962C8B-B14F-4D97-AF65-F5344CB8AC3E}">
        <p14:creationId xmlns:p14="http://schemas.microsoft.com/office/powerpoint/2010/main" val="277847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A26AE-DA08-DE96-E243-C8A299F43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8" y="350839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5FF91C-25B0-603A-421A-FD72E8B0A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181515"/>
              </p:ext>
            </p:extLst>
          </p:nvPr>
        </p:nvGraphicFramePr>
        <p:xfrm>
          <a:off x="838200" y="2009616"/>
          <a:ext cx="7886700" cy="414829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716690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737953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21831562"/>
                    </a:ext>
                  </a:extLst>
                </a:gridCol>
              </a:tblGrid>
              <a:tr h="614562">
                <a:tc>
                  <a:txBody>
                    <a:bodyPr/>
                    <a:lstStyle/>
                    <a:p>
                      <a:r>
                        <a:rPr lang="en-IN" b="1"/>
                        <a:t>Algorithm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Accuracy (%)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Speed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113090"/>
                  </a:ext>
                </a:extLst>
              </a:tr>
              <a:tr h="614562">
                <a:tc>
                  <a:txBody>
                    <a:bodyPr/>
                    <a:lstStyle/>
                    <a:p>
                      <a:r>
                        <a:rPr lang="en-IN" dirty="0"/>
                        <a:t>Naïve 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Very 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651267"/>
                  </a:ext>
                </a:extLst>
              </a:tr>
              <a:tr h="614562">
                <a:tc>
                  <a:txBody>
                    <a:bodyPr/>
                    <a:lstStyle/>
                    <a:p>
                      <a:r>
                        <a:rPr lang="en-IN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459991"/>
                  </a:ext>
                </a:extLst>
              </a:tr>
              <a:tr h="1075484">
                <a:tc>
                  <a:txBody>
                    <a:bodyPr/>
                    <a:lstStyle/>
                    <a:p>
                      <a:r>
                        <a:rPr lang="en-IN"/>
                        <a:t>Support Vector Machine (SVM)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079562"/>
                  </a:ext>
                </a:extLst>
              </a:tr>
              <a:tr h="614562">
                <a:tc>
                  <a:txBody>
                    <a:bodyPr/>
                    <a:lstStyle/>
                    <a:p>
                      <a:r>
                        <a:rPr lang="en-IN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309523"/>
                  </a:ext>
                </a:extLst>
              </a:tr>
              <a:tr h="614562">
                <a:tc>
                  <a:txBody>
                    <a:bodyPr/>
                    <a:lstStyle/>
                    <a:p>
                      <a:r>
                        <a:rPr lang="en-IN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57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2146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96ECB-B9AB-7E1C-4450-0CD1EEBF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7438" y="600485"/>
            <a:ext cx="8911687" cy="128089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BA4E6D8-750D-8C80-2928-1747D1A36D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1375"/>
            <a:ext cx="9634538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ML algorithms to detect phishing emails.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TF-IDF, metadata analysis,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XG-Boost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accurate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Web-based interface for real-time spam/phishing detection.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 model and vectorizer using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Pickle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deployment.</a:t>
            </a:r>
          </a:p>
        </p:txBody>
      </p:sp>
    </p:spTree>
    <p:extLst>
      <p:ext uri="{BB962C8B-B14F-4D97-AF65-F5344CB8AC3E}">
        <p14:creationId xmlns:p14="http://schemas.microsoft.com/office/powerpoint/2010/main" val="515998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B205-468B-D048-7886-7D458DAB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EAA2-04B8-8219-8D09-23F2401D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0413" y="600485"/>
            <a:ext cx="8911687" cy="128089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 FEATURE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19B17FB-6744-8B33-E968-B150178271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2487" y="1881375"/>
            <a:ext cx="10806113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Model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XG-Boost for accurate phishing detection.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 email content and metadata.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&amp; Scalable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volumes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and intuitive interface.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False Positives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incorrect alerts.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Adaptable</a:t>
            </a:r>
            <a:r>
              <a:rPr lang="en-US" altLang="en-US" sz="2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Ready for new features and upgrades.</a:t>
            </a:r>
          </a:p>
        </p:txBody>
      </p:sp>
    </p:spTree>
    <p:extLst>
      <p:ext uri="{BB962C8B-B14F-4D97-AF65-F5344CB8AC3E}">
        <p14:creationId xmlns:p14="http://schemas.microsoft.com/office/powerpoint/2010/main" val="323036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34F5-6F35-B653-E164-9F82C6D2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8601" y="407988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7C4F4E-91D3-9A90-F9CD-F9D5198B4C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4362" y="1570573"/>
            <a:ext cx="10963275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submits email content via web form.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 and tokenize the email text.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TF-IDF to convert text into numerical features.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XG-Boost model classifies the email as phishing or           legitimate.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Output: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Result is displayed instantly on the web interface.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Deployment: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and vectorizer are loaded using Pickle through Flask.</a:t>
            </a:r>
          </a:p>
        </p:txBody>
      </p:sp>
    </p:spTree>
    <p:extLst>
      <p:ext uri="{BB962C8B-B14F-4D97-AF65-F5344CB8AC3E}">
        <p14:creationId xmlns:p14="http://schemas.microsoft.com/office/powerpoint/2010/main" val="684887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C6A0-3236-AAEB-7DC7-7CA44F3D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63" y="381223"/>
            <a:ext cx="8911687" cy="128089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5B837B-E19C-4834-3121-12EA30C4F2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2833"/>
            <a:ext cx="10177463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Core programming language for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Lightweight web framework for backend/API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&amp; XG-Boost: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ML libraries for training and prediction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NumPy: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handling and numerical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(TfidfVectorizer):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Text feature extraction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Pickle: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Saving and loading trained models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HTML/CSS: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 design for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storage and input format</a:t>
            </a:r>
          </a:p>
        </p:txBody>
      </p:sp>
    </p:spTree>
    <p:extLst>
      <p:ext uri="{BB962C8B-B14F-4D97-AF65-F5344CB8AC3E}">
        <p14:creationId xmlns:p14="http://schemas.microsoft.com/office/powerpoint/2010/main" val="3534313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B640-F128-E8DD-F9B9-BC67D8572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6012" y="623212"/>
            <a:ext cx="8911687" cy="128089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65DC20-11F1-ED60-BCA1-958A87A336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4102"/>
            <a:ext cx="9891713" cy="4425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Merged and labeled phishing and ham emails from multiple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preprocessing (cleaning, tokenization) and TF-IDF vectorization on email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Trained several models  XG-Boost selected best-performing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 Flask-based web app for real-time prediction with a simple user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Stored trained model and vectorizer using Pickle for fast deployment and reuse.</a:t>
            </a:r>
          </a:p>
        </p:txBody>
      </p:sp>
    </p:spTree>
    <p:extLst>
      <p:ext uri="{BB962C8B-B14F-4D97-AF65-F5344CB8AC3E}">
        <p14:creationId xmlns:p14="http://schemas.microsoft.com/office/powerpoint/2010/main" val="2419667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E3D4-CDE3-0C67-2211-12A74620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47C7-E958-F729-C434-163C2311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7624" y="623212"/>
            <a:ext cx="8911687" cy="128089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CFD3A07-5A37-3B84-FA46-896BD6742B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3" y="1904102"/>
            <a:ext cx="1062672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Clean, tokenize, and normalize email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Module (TF-IDF)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Convert emails into numerical feature vectors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Module (XG-Boost)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Train classifier to detect phishing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(Flask + HTML)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User-friendly portal for email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 &amp; Feedback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Show prediction results and gather feedback</a:t>
            </a:r>
          </a:p>
        </p:txBody>
      </p:sp>
    </p:spTree>
    <p:extLst>
      <p:ext uri="{BB962C8B-B14F-4D97-AF65-F5344CB8AC3E}">
        <p14:creationId xmlns:p14="http://schemas.microsoft.com/office/powerpoint/2010/main" val="2586650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26DB1-39FC-520D-6E22-CC9B101E6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45B4-E906-54C1-6163-366840E7E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8849" y="137923"/>
            <a:ext cx="8911687" cy="128089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Output/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015C01-2FFF-388C-345E-7FF840680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7579" y="1661912"/>
            <a:ext cx="5895535" cy="3316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93F483-BB7F-2D43-63E2-505A8A7C9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114" y="3429000"/>
            <a:ext cx="5895537" cy="331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53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713F-C415-1876-921E-97A743B5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AA26F-DF4B-5373-8313-9ACC9154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93594" y="251737"/>
            <a:ext cx="8911687" cy="128089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443B18-485A-EF99-0EA6-29DB8BB4E3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3" y="1296616"/>
            <a:ext cx="10326687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intelligent phishing detection system powered by XG-Boost.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Delivers fast and accurate identification of phishing emails.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a user-friendly interface for seamless operation.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is prepared for real-world deployment and integration with email platforms.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strong potential to enhance email security and protect users effectively</a:t>
            </a:r>
          </a:p>
        </p:txBody>
      </p:sp>
    </p:spTree>
    <p:extLst>
      <p:ext uri="{BB962C8B-B14F-4D97-AF65-F5344CB8AC3E}">
        <p14:creationId xmlns:p14="http://schemas.microsoft.com/office/powerpoint/2010/main" val="3785328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91F45-2F0E-C01F-8FEC-E444B7C3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3377-3476-734F-1227-212FC92F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78962" y="308887"/>
            <a:ext cx="8911687" cy="1280890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7DACF3E-C288-E097-E087-2C3B7421C9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4" y="1473330"/>
            <a:ext cx="1051841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Analysis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email header details and URL behavior for better detection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Adopt Deep Learning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models like BERT and LSTM to improve phishing detection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Multilingual Emails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the system to detect phishing in multiple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&amp; Client Deployment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the detection system on cloud platforms and integrate with popular email clients for real-time protection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963516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250</TotalTime>
  <Words>843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Modern No. 20</vt:lpstr>
      <vt:lpstr>Times New Roman</vt:lpstr>
      <vt:lpstr>Tw Cen MT</vt:lpstr>
      <vt:lpstr>Droplet</vt:lpstr>
      <vt:lpstr>DEPARTMENT OF COMPUTER SCIENCE AND  ENGINEERING  Develop an AI System to Identify and Block  Phishing Emails</vt:lpstr>
      <vt:lpstr>Introduction</vt:lpstr>
      <vt:lpstr>Problem Statement </vt:lpstr>
      <vt:lpstr>Objectives</vt:lpstr>
      <vt:lpstr>Existing Systems </vt:lpstr>
      <vt:lpstr>Algorithms</vt:lpstr>
      <vt:lpstr>Algorithm Comparison</vt:lpstr>
      <vt:lpstr>Proposed System</vt:lpstr>
      <vt:lpstr>KEY FEATURE</vt:lpstr>
      <vt:lpstr>System Architecture</vt:lpstr>
      <vt:lpstr>Technologies Used</vt:lpstr>
      <vt:lpstr>Implementation</vt:lpstr>
      <vt:lpstr>Modules</vt:lpstr>
      <vt:lpstr>Output/Screenshots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angesh kumar</dc:creator>
  <cp:lastModifiedBy>angesh kumar</cp:lastModifiedBy>
  <cp:revision>6</cp:revision>
  <dcterms:created xsi:type="dcterms:W3CDTF">2025-05-20T16:52:00Z</dcterms:created>
  <dcterms:modified xsi:type="dcterms:W3CDTF">2025-05-21T05:51:39Z</dcterms:modified>
</cp:coreProperties>
</file>